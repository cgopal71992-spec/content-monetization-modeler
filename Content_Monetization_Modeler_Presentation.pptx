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4dd035948f4fe4" /><Relationship Type="http://schemas.openxmlformats.org/officeDocument/2006/relationships/extended-properties" Target="/docProps/app.xml" Id="R2c2d3b59c8b74f23" /><Relationship Type="http://schemas.openxmlformats.org/officeDocument/2006/relationships/officeDocument" Target="/ppt/presentation.xml" Id="R8b1044c700cb4f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466d16d5be4256"/>
  </p:sldMasterIdLst>
  <p:notesMasterIdLst>
    <p:notesMasterId xmlns:r="http://schemas.openxmlformats.org/officeDocument/2006/relationships" r:id="Radec2e485dd243ce"/>
  </p:notesMasterIdLst>
  <p:sldIdLst>
    <p:sldId xmlns:r="http://schemas.openxmlformats.org/officeDocument/2006/relationships" id="256" r:id="Rb4307cb50e404de4"/>
    <p:sldId xmlns:r="http://schemas.openxmlformats.org/officeDocument/2006/relationships" id="257" r:id="Rc720f243c4484534"/>
    <p:sldId xmlns:r="http://schemas.openxmlformats.org/officeDocument/2006/relationships" id="258" r:id="R005b26e1937c4974"/>
    <p:sldId xmlns:r="http://schemas.openxmlformats.org/officeDocument/2006/relationships" id="259" r:id="Rca507780e7294a4e"/>
    <p:sldId xmlns:r="http://schemas.openxmlformats.org/officeDocument/2006/relationships" id="260" r:id="R18a9d82cab5744d7"/>
    <p:sldId xmlns:r="http://schemas.openxmlformats.org/officeDocument/2006/relationships" id="261" r:id="R181f7913631c43cd"/>
    <p:sldId xmlns:r="http://schemas.openxmlformats.org/officeDocument/2006/relationships" id="262" r:id="R6959abed4543434f"/>
    <p:sldId xmlns:r="http://schemas.openxmlformats.org/officeDocument/2006/relationships" id="263" r:id="R94d438d032934c4c"/>
    <p:sldId xmlns:r="http://schemas.openxmlformats.org/officeDocument/2006/relationships" id="264" r:id="Rc4b04e1ea1654e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2e3f865d7b4b58" /><Relationship Type="http://schemas.openxmlformats.org/officeDocument/2006/relationships/slideMaster" Target="/ppt/slideMasters/slideMaster1.xml" Id="Ra2466d16d5be4256" /><Relationship Type="http://schemas.openxmlformats.org/officeDocument/2006/relationships/notesMaster" Target="/ppt/notesMasters/notesMaster1.xml" Id="Radec2e485dd243ce" /><Relationship Type="http://schemas.openxmlformats.org/officeDocument/2006/relationships/presProps" Target="/ppt/presProps.xml" Id="Rb5f0866d08dc4bc3" /><Relationship Type="http://schemas.openxmlformats.org/officeDocument/2006/relationships/tableStyles" Target="/ppt/tableStyles.xml" Id="Reae99a5dd38d48c2" /><Relationship Type="http://schemas.openxmlformats.org/officeDocument/2006/relationships/slide" Target="/ppt/slides/slide1.xml" Id="Rb4307cb50e404de4" /><Relationship Type="http://schemas.openxmlformats.org/officeDocument/2006/relationships/slide" Target="/ppt/slides/slide2.xml" Id="Rc720f243c4484534" /><Relationship Type="http://schemas.openxmlformats.org/officeDocument/2006/relationships/slide" Target="/ppt/slides/slide3.xml" Id="R005b26e1937c4974" /><Relationship Type="http://schemas.openxmlformats.org/officeDocument/2006/relationships/slide" Target="/ppt/slides/slide4.xml" Id="Rca507780e7294a4e" /><Relationship Type="http://schemas.openxmlformats.org/officeDocument/2006/relationships/slide" Target="/ppt/slides/slide5.xml" Id="R18a9d82cab5744d7" /><Relationship Type="http://schemas.openxmlformats.org/officeDocument/2006/relationships/slide" Target="/ppt/slides/slide6.xml" Id="R181f7913631c43cd" /><Relationship Type="http://schemas.openxmlformats.org/officeDocument/2006/relationships/slide" Target="/ppt/slides/slide7.xml" Id="R6959abed4543434f" /><Relationship Type="http://schemas.openxmlformats.org/officeDocument/2006/relationships/slide" Target="/ppt/slides/slide8.xml" Id="R94d438d032934c4c" /><Relationship Type="http://schemas.openxmlformats.org/officeDocument/2006/relationships/slide" Target="/ppt/slides/slide9.xml" Id="Rc4b04e1ea1654e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e0b2dd5ed143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116c4c12054762" /><Relationship Type="http://schemas.openxmlformats.org/officeDocument/2006/relationships/notesMaster" Target="/ppt/notesMasters/notesMaster1.xml" Id="R51b57f94257e4c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266cf8f76f4f32" /><Relationship Type="http://schemas.openxmlformats.org/officeDocument/2006/relationships/notesMaster" Target="/ppt/notesMasters/notesMaster1.xml" Id="Rd3e38c7b587a43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502aba5aa2425f" /><Relationship Type="http://schemas.openxmlformats.org/officeDocument/2006/relationships/notesMaster" Target="/ppt/notesMasters/notesMaster1.xml" Id="R439ce1799d0440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416a6e3a7f4e1c" /><Relationship Type="http://schemas.openxmlformats.org/officeDocument/2006/relationships/notesMaster" Target="/ppt/notesMasters/notesMaster1.xml" Id="R4089ad117af24b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badd1d4f2d4c8e" /><Relationship Type="http://schemas.openxmlformats.org/officeDocument/2006/relationships/notesMaster" Target="/ppt/notesMasters/notesMaster1.xml" Id="R1bcd912112fd42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6944b6b72541b7" /><Relationship Type="http://schemas.openxmlformats.org/officeDocument/2006/relationships/notesMaster" Target="/ppt/notesMasters/notesMaster1.xml" Id="Rab9d55ddaba642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fa10275fe44738" /><Relationship Type="http://schemas.openxmlformats.org/officeDocument/2006/relationships/notesMaster" Target="/ppt/notesMasters/notesMaster1.xml" Id="R81f12255fa8f4b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c247167423423f" /><Relationship Type="http://schemas.openxmlformats.org/officeDocument/2006/relationships/notesMaster" Target="/ppt/notesMasters/notesMaster1.xml" Id="R0645beba5b764a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559eec772a4053" /><Relationship Type="http://schemas.openxmlformats.org/officeDocument/2006/relationships/notesMaster" Target="/ppt/notesMasters/notesMaster1.xml" Id="R1e5db88500e948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0d2c2e4abf42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86dbdef09b480d" /><Relationship Type="http://schemas.openxmlformats.org/officeDocument/2006/relationships/slideLayout" Target="/ppt/slideLayouts/slideLayout1.xml" Id="Rfc68f496271b47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68f496271b47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911fe08d64865" /><Relationship Type="http://schemas.openxmlformats.org/officeDocument/2006/relationships/notesSlide" Target="/ppt/notesSlides/notesSlide1.xml" Id="R23108387a80e43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4ce636cc04587" /><Relationship Type="http://schemas.openxmlformats.org/officeDocument/2006/relationships/notesSlide" Target="/ppt/notesSlides/notesSlide2.xml" Id="R6fde24f9cf6a4b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cc5a87af84fa4" /><Relationship Type="http://schemas.openxmlformats.org/officeDocument/2006/relationships/notesSlide" Target="/ppt/notesSlides/notesSlide3.xml" Id="Rb6006dd74e8c4e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c9ca91ef4498e" /><Relationship Type="http://schemas.openxmlformats.org/officeDocument/2006/relationships/notesSlide" Target="/ppt/notesSlides/notesSlide4.xml" Id="R6a217466d70f42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8dde4e8c548c3" /><Relationship Type="http://schemas.openxmlformats.org/officeDocument/2006/relationships/chart" Target="/ppt/slides/charts/chart1.xml" Id="R44f791a1d4284d1b" /><Relationship Type="http://schemas.openxmlformats.org/officeDocument/2006/relationships/notesSlide" Target="/ppt/notesSlides/notesSlide5.xml" Id="R95c1227f38aa40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3d5ac32cb440f" /><Relationship Type="http://schemas.openxmlformats.org/officeDocument/2006/relationships/chart" Target="/ppt/slides/charts/chart2.xml" Id="R26973705dd844c6b" /><Relationship Type="http://schemas.openxmlformats.org/officeDocument/2006/relationships/notesSlide" Target="/ppt/notesSlides/notesSlide6.xml" Id="R639f323cef164c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40d9cf30f4a22" /><Relationship Type="http://schemas.openxmlformats.org/officeDocument/2006/relationships/notesSlide" Target="/ppt/notesSlides/notesSlide7.xml" Id="R90da6b8d05db41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3c7b043bc4c3a" /><Relationship Type="http://schemas.openxmlformats.org/officeDocument/2006/relationships/chart" Target="/ppt/slides/charts/chart3.xml" Id="Ra51f524cb8a54f64" /><Relationship Type="http://schemas.openxmlformats.org/officeDocument/2006/relationships/notesSlide" Target="/ppt/notesSlides/notesSlide8.xml" Id="R7205a4c29cbb4a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190ee63914d4a" /><Relationship Type="http://schemas.openxmlformats.org/officeDocument/2006/relationships/notesSlide" Target="/ppt/notesSlides/notesSlide9.xml" Id="Rea096f4cd20a469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Correlation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6"/>
              <c:pt idx="0">
                <c:v>Watch time</c:v>
              </c:pt>
              <c:pt idx="1">
                <c:v>Engagement</c:v>
              </c:pt>
              <c:pt idx="2">
                <c:v>Likes</c:v>
              </c:pt>
              <c:pt idx="3">
                <c:v>Views</c:v>
              </c:pt>
              <c:pt idx="4">
                <c:v>Comments</c:v>
              </c:pt>
              <c:pt idx="5">
                <c:v>Subscribers</c:v>
              </c:pt>
            </c:strLit>
          </c:cat>
          <c:val>
            <c:numLit>
              <c:formatCode>General</c:formatCode>
              <c:ptCount val="6"/>
              <c:pt idx="0">
                <c:v>0.96</c:v>
              </c:pt>
              <c:pt idx="1">
                <c:v>0.15</c:v>
              </c:pt>
              <c:pt idx="2">
                <c:v>0.14</c:v>
              </c:pt>
              <c:pt idx="3">
                <c:v>0.04</c:v>
              </c:pt>
              <c:pt idx="4">
                <c:v>0.03</c:v>
              </c:pt>
              <c:pt idx="5">
                <c:v>0.01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RMSE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Ridge</c:v>
              </c:pt>
              <c:pt idx="1">
                <c:v>Linear</c:v>
              </c:pt>
              <c:pt idx="2">
                <c:v>Elastic Net</c:v>
              </c:pt>
              <c:pt idx="3">
                <c:v>Random Forest</c:v>
              </c:pt>
              <c:pt idx="4">
                <c:v>Extra Trees</c:v>
              </c:pt>
            </c:strLit>
          </c:cat>
          <c:val>
            <c:numLit>
              <c:formatCode>General</c:formatCode>
              <c:ptCount val="5"/>
              <c:pt idx="0">
                <c:v>13.4799</c:v>
              </c:pt>
              <c:pt idx="1">
                <c:v>13.4802</c:v>
              </c:pt>
              <c:pt idx="2">
                <c:v>13.4824</c:v>
              </c:pt>
              <c:pt idx="3">
                <c:v>13.842</c:v>
              </c:pt>
              <c:pt idx="4">
                <c:v>13.9272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Ridge coefficient</c:v>
          </c:tx>
          <c:spPr>
            <a:solidFill xmlns:a="http://schemas.openxmlformats.org/drawingml/2006/main">
              <a:srgbClr val="2563EB"/>
            </a:solidFill>
          </c:spPr>
          <c:invertIfNegative val="0"/>
          <c:cat>
            <c:strLit>
              <c:ptCount val="5"/>
              <c:pt idx="0">
                <c:v>Watch time</c:v>
              </c:pt>
              <c:pt idx="1">
                <c:v>Likes</c:v>
              </c:pt>
              <c:pt idx="2">
                <c:v>Engagement rate</c:v>
              </c:pt>
              <c:pt idx="3">
                <c:v>Comments</c:v>
              </c:pt>
              <c:pt idx="4">
                <c:v>Views</c:v>
              </c:pt>
            </c:strLit>
          </c:cat>
          <c:val>
            <c:numLit>
              <c:formatCode>General</c:formatCode>
              <c:ptCount val="5"/>
              <c:pt idx="0">
                <c:v>59.68</c:v>
              </c:pt>
              <c:pt idx="1">
                <c:v>13.22</c:v>
              </c:pt>
              <c:pt idx="2">
                <c:v>-4.7</c:v>
              </c:pt>
              <c:pt idx="3">
                <c:v>3.27</c:v>
              </c:pt>
              <c:pt idx="4">
                <c:v>0.54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D81DE-AEBE-4F9F-BF83-FC1D19F8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9090B-1D95-49D2-A73A-0F65B419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4511B-02A4-4253-ACF6-EE39D6F2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MACHINE LEARNING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20760-04AD-4B4F-B559-5856BACA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</a:rPr>
              <a:t>Content</a:t>
            </a:r>
          </a:p>
          <a:p xmlns:a="http://schemas.openxmlformats.org/drawingml/2006/main">
            <a:pPr algn="l">
              <a:defRPr sz="48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</a:rPr>
              <a:t>Monetization</a:t>
            </a:r>
          </a:p>
          <a:p xmlns:a="http://schemas.openxmlformats.org/drawingml/2006/main">
            <a:pPr algn="l">
              <a:defRPr sz="48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</a:rPr>
              <a:t>Modeler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1EA24-26B4-4FAE-B7C1-F25E5759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2"/>
                </a:solidFill>
              </a:defRPr>
            </a:pPr>
            <a:r>
              <a:rPr sz="1875" b="0">
                <a:solidFill>
                  <a:srgbClr val="5B6472"/>
                </a:solidFill>
              </a:rPr>
              <a:t>Predicting YouTube ad revenue using video performance and contextual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440DE-FF56-436B-9CF2-6FBECC03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Regression • EDA • Feature engineering • Streamlit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BEE6A-21AD-47FD-AB27-8F337854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85875"/>
            <a:ext cx="3238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381EB-7D2A-49B2-B4E2-404873A6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209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0" b="1">
                <a:solidFill>
                  <a:srgbClr val="10B981"/>
                </a:solidFill>
              </a:defRPr>
            </a:pPr>
            <a:r>
              <a:rPr sz="9000" b="1">
                <a:solidFill>
                  <a:srgbClr val="10B981"/>
                </a:solidFill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E65B8-9A1F-4777-9968-753EA180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242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YouTube Ad Revenue</a:t>
            </a:r>
          </a:p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Prediction</a:t>
            </a:r>
          </a:p>
        </p:txBody>
      </p:sp>
    </p:spTree>
    <p:extLst>
      <p:ext uri="{BB962C8B-B14F-4D97-AF65-F5344CB8AC3E}">
        <p14:creationId xmlns:p14="http://schemas.microsoft.com/office/powerpoint/2010/main" val="15488484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F44920-ED79-4463-9309-4228C45C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The problem: revenue planning needs a reliable forecast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B11F3-7301-4AA0-9EF3-3C4E64C0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9FE36-323F-46F2-9598-A1365F55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DDE59-AC9B-4143-9378-B1FF2992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Creators and media companies need a practical way to estimate expected ad revenue before and after publishing.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6F33F-9BE7-45D1-AE0B-EEA9DA05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4290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246B0-E064-49D6-BED2-896F8DB1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Content strategy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6A77E-2AD8-4230-9F91-618AADB7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Identify performance patterns that support higher returns.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403EF-1015-494C-8D0A-5ED48787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90800"/>
            <a:ext cx="34290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FC576-F3CE-4B84-A449-9E0D428B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57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Revenue forecasting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DF6A8-F2BF-49F8-912B-D2B272EA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33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Estimate revenue using observed video metrics and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3F4AF-968F-4526-BECC-7B66D381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90800"/>
            <a:ext cx="34290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4E59A-15F9-4FB5-8EA1-068C4A62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57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Creator tools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3BBB4-19C6-4227-8830-173C59EF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Offer an interactive prediction workflow through Streamlit.</a:t>
            </a:r>
          </a:p>
        </p:txBody>
      </p:sp>
    </p:spTree>
    <p:extLst>
      <p:ext uri="{BB962C8B-B14F-4D97-AF65-F5344CB8AC3E}">
        <p14:creationId xmlns:p14="http://schemas.microsoft.com/office/powerpoint/2010/main" val="16947161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4DF40-11C2-427F-872B-D3EC5642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The dataset provides 122,400 video-day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162C8-4118-4D46-AE4C-00C78764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7E99D-7BC0-440E-A099-30E1229A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A9BC1-2772-499A-8EC4-DA577245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2"/>
                </a:solidFill>
              </a:defRPr>
            </a:pPr>
            <a:r>
              <a:rPr sz="1500" b="1">
                <a:solidFill>
                  <a:srgbClr val="5B6472"/>
                </a:solidFill>
              </a:rPr>
              <a:t>Target variable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FAC85-7E89-4D85-9743-B6DAB094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</a:defRPr>
            </a:pPr>
            <a:r>
              <a:rPr sz="2850" b="1">
                <a:solidFill>
                  <a:srgbClr val="2563EB"/>
                </a:solidFill>
              </a:rPr>
              <a:t>ad_revenue_usd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59174-157B-4672-BE73-4132957E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Raw dataset 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23627-9CB4-4C13-8D8A-572306B0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1AB3D-D7FF-48AF-BEFD-FEE6896F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122,400 rows and 12 columns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AB8C7-787B-4580-9AB7-2390FFCB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4AF1B-46A9-4EE6-8DD1-41203D2A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~5% missing values in key engagement fields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B1B32-93A9-4640-A8CC-F6841A03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8AEB8-1B48-4032-9A08-6A6A2961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2,400 duplicate records detected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DEFCC-C0F1-493A-ABE8-1F97AF7E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81125"/>
            <a:ext cx="4724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1D704-AD24-466B-95B4-02ECA831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57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Input features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DE897-0BB0-4C20-BEB3-C317697F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43125"/>
            <a:ext cx="3714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Performance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Views • Likes • Comments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Watch time • Video length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Subscribers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Context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Category • Device • Country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191447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38410E-EB29-4005-80A2-0CD9086E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Data preparation turned raw records into model-ready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3A551-20A2-42B7-8F47-80A7F24F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7A094-8511-4CCE-B7D6-CC91D1CA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771B9-4D3C-4ED7-BD99-8E7D49B2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362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F9BE4-6E74-4EC4-A598-256F5BA2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</a:defRPr>
            </a:pPr>
            <a:r>
              <a:rPr sz="285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8224E-4E31-440C-BE00-73E882C2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Remove duplicates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8F824-20FA-4967-A130-ED995196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85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2,400 rows removed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E4D10-07C2-4FAD-A590-87A85EA2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765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EFDB9-2764-4185-8E48-184E716F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90700"/>
            <a:ext cx="2362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F841B-AAA4-4FAD-B485-61E2062F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193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</a:defRPr>
            </a:pPr>
            <a:r>
              <a:rPr sz="28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03484-96C4-48A9-B63B-10FC929D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955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Fill missing values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6C031-D085-4DE6-B81C-1F57E3EC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86150"/>
            <a:ext cx="185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Median imputation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25049-3932-4C77-85D3-4974341D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765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C7773-4FC3-4A00-AF17-279C0398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90700"/>
            <a:ext cx="2362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3701B-AF37-4E91-B165-56D3FC32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193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</a:defRPr>
            </a:pPr>
            <a:r>
              <a:rPr sz="28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63539E-6FCC-4E9B-AF67-BF3E228B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955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Extract date features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1A88D-9382-4FED-93C4-2725BE89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185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Month + day of week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42B85-AA7E-411D-BA86-C88A942D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8535C-18D6-442D-B24B-5A1FD324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90700"/>
            <a:ext cx="2362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3DAE89-E745-4A90-A22D-24B56D0E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193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</a:defRPr>
            </a:pPr>
            <a:r>
              <a:rPr sz="285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C06DE4-2E37-49B0-BD92-F438ACEF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955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Create engagement 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CBC8AB-52BD-4BE2-ABBC-147A0CBA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86150"/>
            <a:ext cx="1857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(likes + comments) / views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255040-09B0-4F74-9FF6-2287042E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High-view records were retained because they may represent valid viral videos.</a:t>
            </a:r>
          </a:p>
        </p:txBody>
      </p:sp>
    </p:spTree>
    <p:extLst>
      <p:ext uri="{BB962C8B-B14F-4D97-AF65-F5344CB8AC3E}">
        <p14:creationId xmlns:p14="http://schemas.microsoft.com/office/powerpoint/2010/main" val="15631632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A7AAB-FAAD-4AA9-B1F9-4CCA9AE3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EDA highlighted watch time as the strongest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2A710-E767-4C44-B347-9922FC8D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361C0-1EE8-4A76-8016-7216AB58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8C35F-398E-4A2F-89FE-F73C2D0F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8FBD9-6C20-4D5C-B648-67544646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Correlation with ad revenue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76300" y="2095500"/>
          <a:ext xmlns:a="http://schemas.openxmlformats.org/drawingml/2006/main" cx="466725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f791a1d4284d1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B61B0-78CB-4095-B9F9-65BE5A66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Key finding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59438-80E7-4A90-BDCF-FA59D5ED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Watch time is strongly associated with ad revenue.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7F2EC-9239-479B-BC99-1888B02C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0BF971-C794-4125-9C13-4D5C7FED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0037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Category averages are nearly identical (~$252–$254).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DDC73-4768-4A21-8E60-D543CC3D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909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02888-A06C-4122-BE4F-4F89F1CA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9092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Only views showed potential outliers (0.72%).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2B9F9-1B46-4DEA-B154-35C599A3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814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BC5D8-A20E-4CD2-B380-43FB06D5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8147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No target-variable outliers were detected.</a:t>
            </a:r>
          </a:p>
        </p:txBody>
      </p:sp>
    </p:spTree>
    <p:extLst>
      <p:ext uri="{BB962C8B-B14F-4D97-AF65-F5344CB8AC3E}">
        <p14:creationId xmlns:p14="http://schemas.microsoft.com/office/powerpoint/2010/main" val="5493006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D9E49-BDD6-42F8-BAC5-82BC5BAA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Five models were evaluated on an 80/20 train-test split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3226F-017E-40B1-99A8-5C0AE991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CFE51-1A55-4C37-AAEC-7660F4A3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36984-8241-4D70-AF86-BD1E9934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Performance measured with R², RMSE and MAE on 24,000 test records.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973705dd844c6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EB440-50FD-4828-9EB2-82CB32A5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43125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40CDD-578C-4BDE-9801-20E1212B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98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Best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04077-AA8A-4A5A-9AE9-35645119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9875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Ridge</a:t>
            </a:r>
          </a:p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Regression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EF016-9BF2-4136-9A07-6FDCC8AB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38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Lowest RMSE and MAE</a:t>
            </a:r>
          </a:p>
        </p:txBody>
      </p:sp>
    </p:spTree>
    <p:extLst>
      <p:ext uri="{BB962C8B-B14F-4D97-AF65-F5344CB8AC3E}">
        <p14:creationId xmlns:p14="http://schemas.microsoft.com/office/powerpoint/2010/main" val="15467436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DBD97-8209-4746-9A1B-61D93104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Ridge Regression delivered strong predictive accuracy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FAB25-2B08-4F5B-AABE-489FC25C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6CDDB-0106-4C03-9231-9F083CB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38BE3-9AB3-492F-B595-E4A32EBA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238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D91EF-759E-4F00-ACD9-1C8D627E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R²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1B97B-8B96-4D2F-A7F9-25E5EC0B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7"/>
                </a:solidFill>
              </a:defRPr>
            </a:pPr>
            <a:r>
              <a:rPr sz="3525" b="1">
                <a:solidFill>
                  <a:srgbClr val="111827"/>
                </a:solidFill>
              </a:rPr>
              <a:t>0.9526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9B896-D797-4BB6-AAEE-C8853522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Explains 95.26% of revenue variation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6BCB7-8B90-48BA-92D0-8E31C988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3238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AC30D-2012-4818-BD55-33AC8328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95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RMSE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982E3-981C-468B-9661-D4C21290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908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7"/>
                </a:solidFill>
              </a:defRPr>
            </a:pPr>
            <a:r>
              <a:rPr sz="3525" b="1">
                <a:solidFill>
                  <a:srgbClr val="111827"/>
                </a:solidFill>
              </a:rPr>
              <a:t>$13.48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2774F-20AA-4EB5-B51C-D115CE5F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718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Penalizes larger prediction errors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7B183-7DC7-400C-AAE4-F6869773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238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B6760-04F7-47A1-8266-401E7070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MAE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67DE7-C2D8-429A-9B65-72C423F5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11827"/>
                </a:solidFill>
              </a:defRPr>
            </a:pPr>
            <a:r>
              <a:rPr sz="3525" b="1">
                <a:solidFill>
                  <a:srgbClr val="111827"/>
                </a:solidFill>
              </a:rPr>
              <a:t>$3.12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B4F27-89BF-4299-8DEA-D590DFA4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718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Average absolute prediction error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4D238-4A4F-42A1-893A-1FF6A741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Actual-versus-predicted analysis showed most predictions close to the perfect-prediction line.</a:t>
            </a:r>
          </a:p>
        </p:txBody>
      </p:sp>
    </p:spTree>
    <p:extLst>
      <p:ext uri="{BB962C8B-B14F-4D97-AF65-F5344CB8AC3E}">
        <p14:creationId xmlns:p14="http://schemas.microsoft.com/office/powerpoint/2010/main" val="17155492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6494A-87B3-4AC3-8424-8A2E0EBF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Watch time and likes drive the final model most strongly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8EF8F-3F1F-41D6-A221-7149392D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A880F-2BFC-42B8-AAF4-813C71C2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63341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1f524cb8a54f6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03460-D358-44E9-94AE-62E11BF0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383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What this means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61039-6547-423C-B23A-E16A8C82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16F3E-01A1-40A9-BAD9-7B932E8C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907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Longer audience attention is the clearest revenue lever.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BDB30-628B-47A1-A354-57C15D1C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43DF7-FCA0-465D-8553-EC591C35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003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Likes and comments add useful engagement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D2734-9EC1-47ED-971E-BF571FF3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6708A-F4DF-4620-B2F2-37381054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347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Category, device, country and weekday add minor effects.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B3592-F8C7-450A-9413-8DC84AAF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101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Engagement rate is interpreted carefully because it is derived from likes, comments and views.</a:t>
            </a:r>
          </a:p>
        </p:txBody>
      </p:sp>
    </p:spTree>
    <p:extLst>
      <p:ext uri="{BB962C8B-B14F-4D97-AF65-F5344CB8AC3E}">
        <p14:creationId xmlns:p14="http://schemas.microsoft.com/office/powerpoint/2010/main" val="12991846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73D74-BD67-4EC7-A5D8-7EDCE962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</a:defRPr>
            </a:pPr>
            <a:r>
              <a:rPr sz="2625" b="1">
                <a:solidFill>
                  <a:srgbClr val="111827"/>
                </a:solidFill>
              </a:rPr>
              <a:t>The Streamlit app turns the model into an interactive tool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67079-D28C-480B-BB00-BCEBD684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AA1C5-E076-4543-BF27-A9FD75F4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85261-2095-42C3-9DD0-90117C1C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857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F94B0-53FD-4936-BBC0-16C27F6A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User 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B0F23-BA22-4D64-8062-EC5E422D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57425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Views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Likes &amp; comments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Total watch time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Video length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Subscribers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Category, device, country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Month &amp; weekday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8E657-88A0-4E62-A0BE-46D17035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4800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563EB"/>
                </a:solidFill>
              </a:defRPr>
            </a:pPr>
            <a:r>
              <a:rPr sz="31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41A83-BC25-4908-9355-7EC2B9F5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857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424DE-9C4B-4FE1-803A-B36C976B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Prediction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4EF0A-932D-4165-8A2C-9FDA5B07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Estimated</a:t>
            </a:r>
          </a:p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YouTube Ad Revenue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A289B-D495-4EF7-9824-5D28BB32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766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A simple interface enables quick scenario testing for content planning and revenue forecasting.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39A45-9ACE-46C5-BE5D-59C22A62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Final takeaway: Ridge Regression provides an accurate, usable revenue-estimation baseline, with watch time as the key predictive factor.</a:t>
            </a:r>
          </a:p>
        </p:txBody>
      </p:sp>
    </p:spTree>
    <p:extLst>
      <p:ext uri="{BB962C8B-B14F-4D97-AF65-F5344CB8AC3E}">
        <p14:creationId xmlns:p14="http://schemas.microsoft.com/office/powerpoint/2010/main" val="16495092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2026-08-12T09:02:05.7070000Z</dcterms:created>
  <dcterms:modified xsi:type="dcterms:W3CDTF">2026-08-12T09:02:05.7070000Z</dcterms:modified>
</coreProperties>
</file>